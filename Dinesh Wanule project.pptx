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3" r:id="rId5"/>
    <p:sldId id="261" r:id="rId6"/>
    <p:sldId id="264" r:id="rId7"/>
    <p:sldId id="267" r:id="rId8"/>
    <p:sldId id="262" r:id="rId9"/>
    <p:sldId id="266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C6DC6-388F-4F05-B81F-3E0BD45474F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95D83-F3F0-4EB2-AD02-3F096CEDF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210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95D83-F3F0-4EB2-AD02-3F096CEDF8C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374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E5A0E-44A7-7138-32C1-2185933F0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E4FA56-FC40-74BF-9ECF-A8029AB4C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CE3E7-FD85-4B6A-A078-E7C9C03B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9535-9DC0-4243-B52B-48948A710D4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4E4A5-19DA-EFFC-F976-90D96ED09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59939-5C48-5DC0-ACAE-66C4D5148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B7CD-5BC5-461E-B064-7B02F2448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52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86D30-D99E-83A6-9FF2-2B0F8FE35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5305D-F473-B81E-8CC1-25714BFCF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FD32B-549B-FD86-1B61-37352778C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9535-9DC0-4243-B52B-48948A710D4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64E39-9987-A165-85ED-00C73255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2BA39-3A27-9B8C-6C03-07956E0E5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B7CD-5BC5-461E-B064-7B02F2448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62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65C6-670B-A9E7-8B2C-52E76F358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FAB49-44B2-D150-9145-52760B953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76858-4B87-4E11-2ADA-F96A22A66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9535-9DC0-4243-B52B-48948A710D4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89BCB-53A3-AB2A-A682-34B68D52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62CBF-707C-3D57-68D0-1F980D39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B7CD-5BC5-461E-B064-7B02F2448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15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3CDE-0BDD-EDBF-92A1-216CB88B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3B868-C4E3-2331-7D15-A59311E5E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130BA-7546-1BEB-46D1-0667BB0F9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11A90-F05A-A434-27DC-89397124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9535-9DC0-4243-B52B-48948A710D4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E7E69-69D0-D71C-49D5-86DC6906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811A1-8F83-8F91-9374-8E876170E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B7CD-5BC5-461E-B064-7B02F2448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14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F3AD1-03F9-DB71-414C-30C2FFBC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3F2AB-7EAF-A717-F090-34B20DA37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F7E88-79EC-A337-0A89-CF1B3EBFA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662E5-03E0-FEEE-0879-D63E50CFB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9DDED-AED0-1BAE-5B37-17F961E75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9DA8B2-26B2-7EEE-959E-B1376E5F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9535-9DC0-4243-B52B-48948A710D4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58476C-8FC6-81E8-11C6-951B27A2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698CA2-FDE2-0AC5-D4E3-873E084F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B7CD-5BC5-461E-B064-7B02F2448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2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6050C-2872-2BC7-FE3A-9FFE1CD9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2D211-0D14-E254-163C-3D456B50F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9535-9DC0-4243-B52B-48948A710D4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2729C-D9C2-78FA-02A2-ED338DA70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C9C0F-4BE8-B5F9-6980-7F4560E09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B7CD-5BC5-461E-B064-7B02F2448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491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ECEA5F-7A75-B350-E3D1-6C6C246A0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9535-9DC0-4243-B52B-48948A710D4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3FEB3F-920A-1B24-E58B-509B666C5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DA2D3-9C65-6CCB-23ED-C8303D64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B7CD-5BC5-461E-B064-7B02F2448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923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EB09C-449B-A4A6-842D-9E8D1A384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85802-13FC-9AC3-6510-33B49676B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BB706-64AE-C718-BCF0-3E4B1181C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306AE-59A7-31CD-55D1-8B0A0A27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9535-9DC0-4243-B52B-48948A710D4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87FCB-1435-EDFA-8E48-1C2F20133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97906-29BA-D25F-7602-5392BAB5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B7CD-5BC5-461E-B064-7B02F2448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836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E5340-9891-D83F-B609-30EF6B39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69A777-6762-CF47-4840-3DB3A90A54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B9E94-EA0C-60AB-C6A8-DC31C7A1F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F71BF-EF52-2186-A006-B648A8990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9535-9DC0-4243-B52B-48948A710D4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854FC-E246-49F7-382E-895FF5806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6976E-FA20-5356-D44C-F386E9CF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B7CD-5BC5-461E-B064-7B02F2448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38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60ECD-AC2F-634F-F1FA-5A61ED328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CFA4DD-119A-2D61-8826-EF1CC000E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E09B5-174B-DD92-AECD-22FA24CA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9535-9DC0-4243-B52B-48948A710D4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C289F-EF82-0926-7A85-BB7BF3A4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B074B-1E4B-E852-8A9B-34C86EBD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B7CD-5BC5-461E-B064-7B02F2448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846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49ED7C-9AF4-DC22-C660-2462D983D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DAED4-37B5-C611-ABF7-8285F0F1E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71BC2-08F9-BF23-CFAB-7D06144F4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9535-9DC0-4243-B52B-48948A710D4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BB175-3AC3-7197-C166-230DFAAD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8523B-731C-C9B1-79B2-CBA02B933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B7CD-5BC5-461E-B064-7B02F2448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74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7D4C18-9047-A253-CBC8-18C69B3D0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141DC-753D-F32A-7F5D-C959A9C68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4808B-B3B5-645F-E81F-02A629345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599535-9DC0-4243-B52B-48948A710D4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41658-1F00-CB32-4714-4E649F61E3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46296-844F-33C0-E7E5-636E0C588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3B7CD-5BC5-461E-B064-7B02F2448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32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3679B2-1224-9651-3E27-11E19B34D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55CE7D-88EC-6AF6-BCD2-5E130C74B54A}"/>
              </a:ext>
            </a:extLst>
          </p:cNvPr>
          <p:cNvSpPr txBox="1"/>
          <p:nvPr/>
        </p:nvSpPr>
        <p:spPr>
          <a:xfrm>
            <a:off x="10442863" y="1018309"/>
            <a:ext cx="2171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Dr. Dinesh </a:t>
            </a:r>
            <a:r>
              <a:rPr lang="en-IN" sz="1200" dirty="0" err="1">
                <a:solidFill>
                  <a:schemeClr val="bg1"/>
                </a:solidFill>
              </a:rPr>
              <a:t>Wanule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560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856BE-BD60-BA78-1677-5A11D4A9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1CA82-94C2-6887-1980-39EFE6851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FF96CF-3D4C-0E3A-F8E7-F0DA85161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1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6A156D-B856-877C-180B-F25586A4D008}"/>
              </a:ext>
            </a:extLst>
          </p:cNvPr>
          <p:cNvSpPr/>
          <p:nvPr/>
        </p:nvSpPr>
        <p:spPr>
          <a:xfrm>
            <a:off x="83128" y="66747"/>
            <a:ext cx="7481454" cy="1623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1. Problem Description</a:t>
            </a:r>
            <a:endParaRPr lang="en-GB" dirty="0"/>
          </a:p>
          <a:p>
            <a:r>
              <a:rPr lang="en-GB" dirty="0"/>
              <a:t>Many forts in Maharashtra are damaging due to </a:t>
            </a:r>
            <a:r>
              <a:rPr lang="en-GB" b="1" dirty="0"/>
              <a:t>weathering, vegetation growth, and tourism pressure</a:t>
            </a:r>
            <a:r>
              <a:rPr lang="en-GB" dirty="0"/>
              <a:t>.</a:t>
            </a:r>
          </a:p>
          <a:p>
            <a:r>
              <a:rPr lang="en-GB" dirty="0"/>
              <a:t>Traditional monitoring methods are </a:t>
            </a:r>
            <a:r>
              <a:rPr lang="en-GB" b="1" dirty="0"/>
              <a:t>manual and time-consuming</a:t>
            </a:r>
            <a:r>
              <a:rPr lang="en-GB" dirty="0"/>
              <a:t>, making early damage detection difficult.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A8479F-C602-F3FE-1927-86DC03A9014D}"/>
              </a:ext>
            </a:extLst>
          </p:cNvPr>
          <p:cNvSpPr/>
          <p:nvPr/>
        </p:nvSpPr>
        <p:spPr>
          <a:xfrm>
            <a:off x="83128" y="1782835"/>
            <a:ext cx="7481454" cy="168210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C00000"/>
                </a:solidFill>
              </a:rPr>
              <a:t>2. Justification</a:t>
            </a:r>
            <a:endParaRPr lang="en-GB" dirty="0">
              <a:solidFill>
                <a:srgbClr val="C00000"/>
              </a:solidFill>
            </a:endParaRPr>
          </a:p>
          <a:p>
            <a:r>
              <a:rPr lang="en-GB" b="1" dirty="0">
                <a:solidFill>
                  <a:srgbClr val="C00000"/>
                </a:solidFill>
              </a:rPr>
              <a:t>AI tools (CNN, GIS, LSTM)</a:t>
            </a:r>
            <a:r>
              <a:rPr lang="en-GB" dirty="0">
                <a:solidFill>
                  <a:srgbClr val="C00000"/>
                </a:solidFill>
              </a:rPr>
              <a:t> can help detect structural damage, </a:t>
            </a:r>
            <a:r>
              <a:rPr lang="en-GB" dirty="0" err="1">
                <a:solidFill>
                  <a:srgbClr val="C00000"/>
                </a:solidFill>
              </a:rPr>
              <a:t>analyze</a:t>
            </a:r>
            <a:r>
              <a:rPr lang="en-GB" dirty="0">
                <a:solidFill>
                  <a:srgbClr val="C00000"/>
                </a:solidFill>
              </a:rPr>
              <a:t> environmental impact, and predict damage.</a:t>
            </a:r>
          </a:p>
          <a:p>
            <a:r>
              <a:rPr lang="en-GB" dirty="0">
                <a:solidFill>
                  <a:srgbClr val="C00000"/>
                </a:solidFill>
              </a:rPr>
              <a:t>This approach supports </a:t>
            </a:r>
            <a:r>
              <a:rPr lang="en-GB" b="1" dirty="0">
                <a:solidFill>
                  <a:srgbClr val="C00000"/>
                </a:solidFill>
              </a:rPr>
              <a:t>efficient heritage conservation and interdisciplinary learning for students</a:t>
            </a:r>
            <a:r>
              <a:rPr lang="en-GB" dirty="0">
                <a:solidFill>
                  <a:srgbClr val="C00000"/>
                </a:solidFill>
              </a:rPr>
              <a:t>.</a:t>
            </a:r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49B0D9-6A1D-37F6-96AF-602CA0C7D018}"/>
              </a:ext>
            </a:extLst>
          </p:cNvPr>
          <p:cNvSpPr/>
          <p:nvPr/>
        </p:nvSpPr>
        <p:spPr>
          <a:xfrm>
            <a:off x="7647711" y="74325"/>
            <a:ext cx="4461161" cy="33906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3. Complexity</a:t>
            </a:r>
            <a:endParaRPr lang="en-GB" dirty="0"/>
          </a:p>
          <a:p>
            <a:r>
              <a:rPr lang="en-GB" dirty="0"/>
              <a:t>The project involves </a:t>
            </a:r>
            <a:r>
              <a:rPr lang="en-GB" b="1" dirty="0"/>
              <a:t>field data collection, AI image analysis, weather data </a:t>
            </a:r>
            <a:r>
              <a:rPr lang="en-GB" b="1" dirty="0" err="1"/>
              <a:t>modeling</a:t>
            </a:r>
            <a:r>
              <a:rPr lang="en-GB" b="1" dirty="0"/>
              <a:t>, and GIS mapping</a:t>
            </a:r>
            <a:r>
              <a:rPr lang="en-GB" dirty="0"/>
              <a:t>.</a:t>
            </a:r>
          </a:p>
          <a:p>
            <a:r>
              <a:rPr lang="en-GB" dirty="0"/>
              <a:t>Integrating these datasets to generate </a:t>
            </a:r>
            <a:r>
              <a:rPr lang="en-GB" b="1" dirty="0"/>
              <a:t>accurate conservation recommendations</a:t>
            </a:r>
            <a:r>
              <a:rPr lang="en-GB" dirty="0"/>
              <a:t> adds technical and analytical complexity.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54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66AB46-2315-54ED-8D2E-88849EE7C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63" y="0"/>
            <a:ext cx="10287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C6BFD4-5B87-AEFA-2F4F-1D390257A544}"/>
              </a:ext>
            </a:extLst>
          </p:cNvPr>
          <p:cNvSpPr/>
          <p:nvPr/>
        </p:nvSpPr>
        <p:spPr>
          <a:xfrm>
            <a:off x="1184564" y="4260273"/>
            <a:ext cx="4779818" cy="70658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135502-E095-DDDC-AFB0-5468375EC3DD}"/>
              </a:ext>
            </a:extLst>
          </p:cNvPr>
          <p:cNvSpPr/>
          <p:nvPr/>
        </p:nvSpPr>
        <p:spPr>
          <a:xfrm>
            <a:off x="1003300" y="1454727"/>
            <a:ext cx="676564" cy="45096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6193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dian Fort Images – Browse 49,962 Stock Photos, Vectors ...">
            <a:extLst>
              <a:ext uri="{FF2B5EF4-FFF2-40B4-BE49-F238E27FC236}">
                <a16:creationId xmlns:a16="http://schemas.microsoft.com/office/drawing/2014/main" id="{C7A545C3-79D2-05C3-B097-66979096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7" y="72737"/>
            <a:ext cx="12154247" cy="678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46ECFB-CACB-FBB9-D1A7-C20E5159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55" y="0"/>
            <a:ext cx="10515600" cy="1325563"/>
          </a:xfrm>
        </p:spPr>
        <p:txBody>
          <a:bodyPr/>
          <a:lstStyle/>
          <a:p>
            <a:r>
              <a:rPr lang="en-GB" b="1" dirty="0"/>
              <a:t>Goals of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D3B58-6250-C7CE-3B07-2E19609BA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91" y="883226"/>
            <a:ext cx="11928763" cy="5902037"/>
          </a:xfrm>
        </p:spPr>
        <p:txBody>
          <a:bodyPr>
            <a:normAutofit fontScale="62500" lnSpcReduction="20000"/>
          </a:bodyPr>
          <a:lstStyle/>
          <a:p>
            <a:endParaRPr lang="en-GB" b="1" dirty="0"/>
          </a:p>
          <a:p>
            <a:pPr marL="0" indent="0" algn="just">
              <a:buNone/>
            </a:pPr>
            <a:r>
              <a:rPr lang="en-GB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goals define </a:t>
            </a:r>
            <a:r>
              <a:rPr lang="en-GB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project aims to achieve</a:t>
            </a:r>
            <a:r>
              <a:rPr lang="en-GB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GB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Document Heritage Structures</a:t>
            </a:r>
            <a:endParaRPr lang="en-GB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Digitally record the current state of selected forts (Raigad,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Pratapgad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Sindhudurg,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Shivneri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etc.) using images, GPS coordinates, and structural data.</a:t>
            </a:r>
          </a:p>
          <a:p>
            <a:pPr marL="0" indent="0" algn="just">
              <a:buNone/>
            </a:pPr>
            <a:r>
              <a:rPr lang="en-GB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Identify Damage and Threats</a:t>
            </a:r>
            <a:endParaRPr lang="en-GB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physical damage such as cracks, wall erosion, vegetation overgrowth.</a:t>
            </a:r>
          </a:p>
          <a:p>
            <a:pPr lvl="1" algn="just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environmental impacts (rainfall, humidity, temperature).</a:t>
            </a:r>
          </a:p>
          <a:p>
            <a:pPr lvl="1" algn="just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human-induced threats (tourism pressure, vandalism).</a:t>
            </a:r>
          </a:p>
          <a:p>
            <a:pPr marL="0" indent="0" algn="just">
              <a:buNone/>
            </a:pPr>
            <a:r>
              <a:rPr lang="en-GB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Integrate AI for Analysis</a:t>
            </a:r>
            <a:endParaRPr lang="en-GB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AI tools to automate image analysis, weather trend analysis, and GIS mapping.</a:t>
            </a:r>
          </a:p>
          <a:p>
            <a:pPr lvl="1" algn="just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deterioration patterns using time-series forecasting (e.g., LSTM models for weather impact).</a:t>
            </a:r>
          </a:p>
          <a:p>
            <a:pPr marL="0" indent="0" algn="just">
              <a:buNone/>
            </a:pPr>
            <a:r>
              <a:rPr lang="en-GB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Propose Sustainable Conservation Measures</a:t>
            </a:r>
            <a:endParaRPr lang="en-GB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eco-friendly restoration and tourism management strategies.</a:t>
            </a:r>
          </a:p>
          <a:p>
            <a:pPr lvl="1" algn="just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priorities for urgent intervention based on AI predictions.</a:t>
            </a:r>
          </a:p>
          <a:p>
            <a:pPr marL="0" indent="0" algn="just">
              <a:buNone/>
            </a:pPr>
            <a:r>
              <a:rPr lang="en-GB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Enhance Educational Outcomes</a:t>
            </a:r>
            <a:endParaRPr lang="en-GB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students’ skills in AI, heritage documentation, digital mapping, and research methodology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8740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7DD61E8-3915-B45A-DA28-78B9D9E1A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43" y="96415"/>
            <a:ext cx="34204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Table-1: Capstone Project </a:t>
            </a:r>
            <a:r>
              <a:rPr lang="en-US" altLang="en-US" sz="1600" b="1" dirty="0"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Planning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288F04-49A5-17EF-9006-1A2D85441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145453"/>
              </p:ext>
            </p:extLst>
          </p:nvPr>
        </p:nvGraphicFramePr>
        <p:xfrm>
          <a:off x="127591" y="494292"/>
          <a:ext cx="11961630" cy="63695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5282">
                  <a:extLst>
                    <a:ext uri="{9D8B030D-6E8A-4147-A177-3AD203B41FA5}">
                      <a16:colId xmlns:a16="http://schemas.microsoft.com/office/drawing/2014/main" val="635289883"/>
                    </a:ext>
                  </a:extLst>
                </a:gridCol>
                <a:gridCol w="2680854">
                  <a:extLst>
                    <a:ext uri="{9D8B030D-6E8A-4147-A177-3AD203B41FA5}">
                      <a16:colId xmlns:a16="http://schemas.microsoft.com/office/drawing/2014/main" val="3618817260"/>
                    </a:ext>
                  </a:extLst>
                </a:gridCol>
                <a:gridCol w="7205494">
                  <a:extLst>
                    <a:ext uri="{9D8B030D-6E8A-4147-A177-3AD203B41FA5}">
                      <a16:colId xmlns:a16="http://schemas.microsoft.com/office/drawing/2014/main" val="3236226597"/>
                    </a:ext>
                  </a:extLst>
                </a:gridCol>
              </a:tblGrid>
              <a:tr h="215040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 (AI-Assisted Project on Fort Conservation)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extLst>
                  <a:ext uri="{0D108BD9-81ED-4DB2-BD59-A6C34878D82A}">
                    <a16:rowId xmlns:a16="http://schemas.microsoft.com/office/drawing/2014/main" val="1991550001"/>
                  </a:ext>
                </a:extLst>
              </a:tr>
              <a:tr h="835216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 Identification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Brainstorming on issues related to preservation of forts in Maharashtra; selection of study fort such as Raigad Fort, Shivneri Fort or Sindhudurg Fort; idea posting and concept mapping.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extLst>
                  <a:ext uri="{0D108BD9-81ED-4DB2-BD59-A6C34878D82A}">
                    <a16:rowId xmlns:a16="http://schemas.microsoft.com/office/drawing/2014/main" val="1865648400"/>
                  </a:ext>
                </a:extLst>
              </a:tr>
              <a:tr h="835216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Empathize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Stakeholder Analysis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Mapping stakeholders (tourists, local communities, historians, conservation agencies); identify needs and issues such as erosion, waste management, vegetation damage and tourism pressure.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extLst>
                  <a:ext uri="{0D108BD9-81ED-4DB2-BD59-A6C34878D82A}">
                    <a16:rowId xmlns:a16="http://schemas.microsoft.com/office/drawing/2014/main" val="2885730870"/>
                  </a:ext>
                </a:extLst>
              </a:tr>
              <a:tr h="628490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Definition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Layout of the research problem: conservation challenges of selected forts; define project objectives and research questions using a holistic view.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extLst>
                  <a:ext uri="{0D108BD9-81ED-4DB2-BD59-A6C34878D82A}">
                    <a16:rowId xmlns:a16="http://schemas.microsoft.com/office/drawing/2014/main" val="3377885278"/>
                  </a:ext>
                </a:extLst>
              </a:tr>
              <a:tr h="835216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Ideate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Design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Reflection on collected information; brainstorming possible AI solutions such as image-based damage detection, GIS mapping, digital heritage documentation; identify modules and team roles.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extLst>
                  <a:ext uri="{0D108BD9-81ED-4DB2-BD59-A6C34878D82A}">
                    <a16:rowId xmlns:a16="http://schemas.microsoft.com/office/drawing/2014/main" val="1735074585"/>
                  </a:ext>
                </a:extLst>
              </a:tr>
              <a:tr h="835216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Development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AI-assisted framework: data collection (photos, satellite images), micro-modules such as damage analysis, environmental risk mapping, digital fort map and heritage awareness content.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extLst>
                  <a:ext uri="{0D108BD9-81ED-4DB2-BD59-A6C34878D82A}">
                    <a16:rowId xmlns:a16="http://schemas.microsoft.com/office/drawing/2014/main" val="3454785014"/>
                  </a:ext>
                </a:extLst>
              </a:tr>
              <a:tr h="678517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and Verification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AI tools and analysis results; compare findings with literature, conservation reports, and field observations; verify whether project objectives are achieved.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extLst>
                  <a:ext uri="{0D108BD9-81ED-4DB2-BD59-A6C34878D82A}">
                    <a16:rowId xmlns:a16="http://schemas.microsoft.com/office/drawing/2014/main" val="2856030333"/>
                  </a:ext>
                </a:extLst>
              </a:tr>
              <a:tr h="835216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AI-assisted conservation insights; propose preservation strategies such as visitor management, structural monitoring, digital documentation and heritage awareness programs.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extLst>
                  <a:ext uri="{0D108BD9-81ED-4DB2-BD59-A6C34878D82A}">
                    <a16:rowId xmlns:a16="http://schemas.microsoft.com/office/drawing/2014/main" val="880915131"/>
                  </a:ext>
                </a:extLst>
              </a:tr>
              <a:tr h="628490">
                <a:tc>
                  <a:txBody>
                    <a:bodyPr/>
                    <a:lstStyle/>
                    <a:p>
                      <a:pPr marL="2286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 and Reflection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Prepare final project report, presentation, and reflection on learning outcomes; suggest future improvements for fort conservation using AI.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1" marR="7301" marT="7301" marB="7301" anchor="ctr"/>
                </a:tc>
                <a:extLst>
                  <a:ext uri="{0D108BD9-81ED-4DB2-BD59-A6C34878D82A}">
                    <a16:rowId xmlns:a16="http://schemas.microsoft.com/office/drawing/2014/main" val="403862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702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93AE-63D5-87C1-4D0F-FBE16E5CE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15" y="0"/>
            <a:ext cx="12088084" cy="1325563"/>
          </a:xfrm>
        </p:spPr>
        <p:txBody>
          <a:bodyPr>
            <a:normAutofit/>
          </a:bodyPr>
          <a:lstStyle/>
          <a:p>
            <a:r>
              <a:rPr lang="en-GB" b="1" dirty="0"/>
              <a:t>Requirements and  Specifications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931AA-956E-CD3F-8299-CF682139E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773" y="882513"/>
            <a:ext cx="6161809" cy="5809232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the 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and functional requirements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the AI component of the project should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Data Collection Requirements</a:t>
            </a:r>
          </a:p>
          <a:p>
            <a:pPr algn="just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Types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of fort structures (walls, gates, water tanks, temples)</a:t>
            </a:r>
          </a:p>
          <a:p>
            <a:pPr lvl="1"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coordinates and mapping data</a:t>
            </a:r>
          </a:p>
          <a:p>
            <a:pPr lvl="1"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and weather data (temperature, rainfall, humidity, wind)</a:t>
            </a:r>
          </a:p>
          <a:p>
            <a:pPr lvl="1"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and archival documents</a:t>
            </a:r>
          </a:p>
          <a:p>
            <a:pPr algn="just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Volume &amp; Quality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High-resolution images for accurate analysis</a:t>
            </a:r>
          </a:p>
          <a:p>
            <a:pPr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format for time-series weather data</a:t>
            </a:r>
          </a:p>
          <a:p>
            <a:pPr marL="0" indent="0" algn="just"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AI Functional Requirements</a:t>
            </a:r>
          </a:p>
          <a:p>
            <a:pPr algn="just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cracks, erosion, moss/algae growth, and structural damage</a:t>
            </a:r>
          </a:p>
          <a:p>
            <a:pPr lvl="1" algn="just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Google Lens, OpenCV, or other computer vision AI</a:t>
            </a:r>
          </a:p>
          <a:p>
            <a:pPr lvl="1" algn="just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Highlighted images showing damage areas, severity scores</a:t>
            </a:r>
          </a:p>
          <a:p>
            <a:pPr algn="just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Mapping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digital GIS maps of forts</a:t>
            </a:r>
          </a:p>
          <a:p>
            <a:pPr lvl="1" algn="just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Overlay structural damage and environmental impact</a:t>
            </a:r>
          </a:p>
          <a:p>
            <a:pPr lvl="1" algn="just"/>
            <a:r>
              <a:rPr lang="en-IN" sz="4000" dirty="0"/>
              <a:t>Tools: QGIS, Google Earth, ArcGIS with AI integration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F8EB9-2F35-3136-1C43-FD67825C3E64}"/>
              </a:ext>
            </a:extLst>
          </p:cNvPr>
          <p:cNvSpPr txBox="1"/>
          <p:nvPr/>
        </p:nvSpPr>
        <p:spPr>
          <a:xfrm>
            <a:off x="6504710" y="1028343"/>
            <a:ext cx="568729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 for Weather Impact</a:t>
            </a: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deterioration patterns based on environmental data</a:t>
            </a: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LSTM neural networks</a:t>
            </a: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Predictive charts linking weather phases to structural damage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Non-Functional Requirements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Usability: Student-friendly interface for uploading images and generating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Ability to handle multiple forts and increasing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High reliability in AI predictions and damage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Clear graphical outputs (maps, charts, heatmaps)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 Ability to combine AI analysis with GIS and heritage data</a:t>
            </a:r>
          </a:p>
          <a:p>
            <a:pPr lvl="1" algn="just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034F73-6D37-5DA1-3153-8B740EEC57DD}"/>
              </a:ext>
            </a:extLst>
          </p:cNvPr>
          <p:cNvCxnSpPr>
            <a:cxnSpLocks/>
          </p:cNvCxnSpPr>
          <p:nvPr/>
        </p:nvCxnSpPr>
        <p:spPr>
          <a:xfrm>
            <a:off x="6421582" y="882513"/>
            <a:ext cx="0" cy="58092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Indian Fort Images – Browse 49,962 Stock Photos, Vectors ...">
            <a:extLst>
              <a:ext uri="{FF2B5EF4-FFF2-40B4-BE49-F238E27FC236}">
                <a16:creationId xmlns:a16="http://schemas.microsoft.com/office/drawing/2014/main" id="{88BB78E5-3E61-5EC0-DBFB-9D32409E2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7" y="72737"/>
            <a:ext cx="12154247" cy="678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52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2982-C573-0F7B-454F-B40BEECE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5" y="2964365"/>
            <a:ext cx="12192000" cy="1325563"/>
          </a:xfrm>
        </p:spPr>
        <p:txBody>
          <a:bodyPr/>
          <a:lstStyle/>
          <a:p>
            <a:pPr algn="ctr"/>
            <a:r>
              <a:rPr lang="en-IN" dirty="0"/>
              <a:t>AI Solution Model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2A984-8EC7-FAD6-AAFF-3CA3D17FBDA2}"/>
              </a:ext>
            </a:extLst>
          </p:cNvPr>
          <p:cNvSpPr/>
          <p:nvPr/>
        </p:nvSpPr>
        <p:spPr>
          <a:xfrm>
            <a:off x="315191" y="269768"/>
            <a:ext cx="4371109" cy="27224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AI Image Analysis</a:t>
            </a:r>
            <a:endParaRPr lang="en-GB" dirty="0"/>
          </a:p>
          <a:p>
            <a:r>
              <a:rPr lang="en-GB" dirty="0"/>
              <a:t>Use </a:t>
            </a:r>
            <a:r>
              <a:rPr lang="en-GB" b="1" dirty="0"/>
              <a:t>Computer Vision (CNN models)</a:t>
            </a:r>
            <a:r>
              <a:rPr lang="en-GB" dirty="0"/>
              <a:t> to detect:</a:t>
            </a:r>
          </a:p>
          <a:p>
            <a:pPr lvl="1"/>
            <a:r>
              <a:rPr lang="en-GB" dirty="0"/>
              <a:t>Wall cracks</a:t>
            </a:r>
          </a:p>
          <a:p>
            <a:pPr lvl="1"/>
            <a:r>
              <a:rPr lang="en-GB" dirty="0"/>
              <a:t>Vegetation growth (moss, algae)</a:t>
            </a:r>
          </a:p>
          <a:p>
            <a:pPr lvl="1"/>
            <a:r>
              <a:rPr lang="en-GB" dirty="0"/>
              <a:t>Structural damage and erosion</a:t>
            </a:r>
          </a:p>
          <a:p>
            <a:r>
              <a:rPr lang="en-GB" dirty="0"/>
              <a:t>Output: </a:t>
            </a:r>
            <a:r>
              <a:rPr lang="en-GB" b="1" dirty="0"/>
              <a:t>Annotated images with damage indicators and severity levels</a:t>
            </a:r>
            <a:r>
              <a:rPr lang="en-GB" dirty="0"/>
              <a:t>.</a:t>
            </a:r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4A88A7-84B8-F603-E74A-B340AE9AE923}"/>
              </a:ext>
            </a:extLst>
          </p:cNvPr>
          <p:cNvSpPr/>
          <p:nvPr/>
        </p:nvSpPr>
        <p:spPr>
          <a:xfrm>
            <a:off x="7637318" y="269768"/>
            <a:ext cx="4239491" cy="27224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AI-Based Mapping</a:t>
            </a:r>
            <a:endParaRPr lang="en-GB" dirty="0"/>
          </a:p>
          <a:p>
            <a:r>
              <a:rPr lang="en-GB" dirty="0"/>
              <a:t>Create </a:t>
            </a:r>
            <a:r>
              <a:rPr lang="en-GB" b="1" dirty="0"/>
              <a:t>GIS-based digital maps</a:t>
            </a:r>
            <a:r>
              <a:rPr lang="en-GB" dirty="0"/>
              <a:t> of forts.</a:t>
            </a:r>
          </a:p>
          <a:p>
            <a:r>
              <a:rPr lang="en-GB" dirty="0"/>
              <a:t>Tools: </a:t>
            </a:r>
            <a:r>
              <a:rPr lang="en-GB" b="1" dirty="0"/>
              <a:t>QGIS, ArcGIS, Google Earth</a:t>
            </a:r>
            <a:r>
              <a:rPr lang="en-GB" dirty="0"/>
              <a:t>.</a:t>
            </a:r>
          </a:p>
          <a:p>
            <a:r>
              <a:rPr lang="en-GB" dirty="0"/>
              <a:t>Output: </a:t>
            </a:r>
            <a:r>
              <a:rPr lang="en-GB" b="1" dirty="0"/>
              <a:t>Fort topography and location of gates, walls, temples, water tanks, and damage zones</a:t>
            </a:r>
            <a:r>
              <a:rPr lang="en-GB" dirty="0"/>
              <a:t>.</a:t>
            </a: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47CDEA-578A-A0F9-B195-57CE759977B9}"/>
              </a:ext>
            </a:extLst>
          </p:cNvPr>
          <p:cNvSpPr/>
          <p:nvPr/>
        </p:nvSpPr>
        <p:spPr>
          <a:xfrm>
            <a:off x="315190" y="4140201"/>
            <a:ext cx="4371110" cy="24480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Weather-Based Prediction</a:t>
            </a:r>
            <a:endParaRPr lang="en-GB" dirty="0"/>
          </a:p>
          <a:p>
            <a:r>
              <a:rPr lang="en-GB" dirty="0"/>
              <a:t>Use </a:t>
            </a:r>
            <a:r>
              <a:rPr lang="en-GB" b="1" dirty="0"/>
              <a:t>LSTM (Long Short-Term Memory) neural networks</a:t>
            </a:r>
            <a:r>
              <a:rPr lang="en-GB" dirty="0"/>
              <a:t> to </a:t>
            </a:r>
            <a:r>
              <a:rPr lang="en-GB" dirty="0" err="1"/>
              <a:t>analyze</a:t>
            </a:r>
            <a:r>
              <a:rPr lang="en-GB" dirty="0"/>
              <a:t> </a:t>
            </a:r>
            <a:r>
              <a:rPr lang="en-GB" b="1" dirty="0"/>
              <a:t>time-series weather data</a:t>
            </a:r>
            <a:r>
              <a:rPr lang="en-GB" dirty="0"/>
              <a:t>.</a:t>
            </a:r>
          </a:p>
          <a:p>
            <a:r>
              <a:rPr lang="en-GB" dirty="0"/>
              <a:t>Output: Predict </a:t>
            </a:r>
            <a:r>
              <a:rPr lang="en-GB" b="1" dirty="0"/>
              <a:t>erosion risk, vegetation growth, and structural damage trends</a:t>
            </a:r>
            <a:r>
              <a:rPr lang="en-GB"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7A5431-A123-B834-4436-838F0AF370B2}"/>
              </a:ext>
            </a:extLst>
          </p:cNvPr>
          <p:cNvSpPr/>
          <p:nvPr/>
        </p:nvSpPr>
        <p:spPr>
          <a:xfrm>
            <a:off x="7637318" y="4274557"/>
            <a:ext cx="4239491" cy="2410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AI-Assisted Historical Documentation</a:t>
            </a:r>
            <a:endParaRPr lang="en-GB" dirty="0"/>
          </a:p>
          <a:p>
            <a:r>
              <a:rPr lang="en-GB" dirty="0"/>
              <a:t>Use </a:t>
            </a:r>
            <a:r>
              <a:rPr lang="en-GB" b="1" dirty="0"/>
              <a:t>NLP to summarize archival texts</a:t>
            </a:r>
            <a:r>
              <a:rPr lang="en-GB" dirty="0"/>
              <a:t> and </a:t>
            </a:r>
            <a:r>
              <a:rPr lang="en-GB" b="1" dirty="0"/>
              <a:t>CNN to classify historical images</a:t>
            </a:r>
            <a:r>
              <a:rPr lang="en-GB" dirty="0"/>
              <a:t>.</a:t>
            </a:r>
          </a:p>
          <a:p>
            <a:r>
              <a:rPr lang="en-GB" dirty="0"/>
              <a:t>Output: </a:t>
            </a:r>
            <a:r>
              <a:rPr lang="en-GB" b="1" dirty="0"/>
              <a:t>Automated historical summaries and timelines of forts</a:t>
            </a:r>
            <a:r>
              <a:rPr lang="en-GB" dirty="0"/>
              <a:t>.</a:t>
            </a:r>
          </a:p>
          <a:p>
            <a:pPr algn="ctr"/>
            <a:endParaRPr lang="en-IN" dirty="0"/>
          </a:p>
        </p:txBody>
      </p:sp>
      <p:pic>
        <p:nvPicPr>
          <p:cNvPr id="3" name="Picture 2" descr="Indian Fort Images – Browse 49,962 Stock Photos, Vectors ...">
            <a:extLst>
              <a:ext uri="{FF2B5EF4-FFF2-40B4-BE49-F238E27FC236}">
                <a16:creationId xmlns:a16="http://schemas.microsoft.com/office/drawing/2014/main" id="{81CD5058-767A-3537-E4F3-44D4B52C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7" y="72737"/>
            <a:ext cx="12154247" cy="678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928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A18D44-199C-80B7-256F-3D80AF834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871343"/>
              </p:ext>
            </p:extLst>
          </p:nvPr>
        </p:nvGraphicFramePr>
        <p:xfrm>
          <a:off x="109105" y="790723"/>
          <a:ext cx="12063844" cy="60276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8522">
                  <a:extLst>
                    <a:ext uri="{9D8B030D-6E8A-4147-A177-3AD203B41FA5}">
                      <a16:colId xmlns:a16="http://schemas.microsoft.com/office/drawing/2014/main" val="644373851"/>
                    </a:ext>
                  </a:extLst>
                </a:gridCol>
                <a:gridCol w="3969328">
                  <a:extLst>
                    <a:ext uri="{9D8B030D-6E8A-4147-A177-3AD203B41FA5}">
                      <a16:colId xmlns:a16="http://schemas.microsoft.com/office/drawing/2014/main" val="757012587"/>
                    </a:ext>
                  </a:extLst>
                </a:gridCol>
                <a:gridCol w="3169227">
                  <a:extLst>
                    <a:ext uri="{9D8B030D-6E8A-4147-A177-3AD203B41FA5}">
                      <a16:colId xmlns:a16="http://schemas.microsoft.com/office/drawing/2014/main" val="3364887379"/>
                    </a:ext>
                  </a:extLst>
                </a:gridCol>
                <a:gridCol w="3236767">
                  <a:extLst>
                    <a:ext uri="{9D8B030D-6E8A-4147-A177-3AD203B41FA5}">
                      <a16:colId xmlns:a16="http://schemas.microsoft.com/office/drawing/2014/main" val="2685241596"/>
                    </a:ext>
                  </a:extLst>
                </a:gridCol>
              </a:tblGrid>
              <a:tr h="2618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 / Rubrics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extLst>
                  <a:ext uri="{0D108BD9-81ED-4DB2-BD59-A6C34878D82A}">
                    <a16:rowId xmlns:a16="http://schemas.microsoft.com/office/drawing/2014/main" val="3639955705"/>
                  </a:ext>
                </a:extLst>
              </a:tr>
              <a:tr h="7513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Brainstorming tools (Miro, </a:t>
                      </a:r>
                      <a:r>
                        <a:rPr lang="en-IN" sz="14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Jamboard</a:t>
                      </a: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AI tools like ChatGPT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Identification of key issues in preservation and conservation of forts in Maharashtra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Clarity of topic selection, relevance of conservation issue, quality of brainstorming ideas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extLst>
                  <a:ext uri="{0D108BD9-81ED-4DB2-BD59-A6C34878D82A}">
                    <a16:rowId xmlns:a16="http://schemas.microsoft.com/office/drawing/2014/main" val="451188423"/>
                  </a:ext>
                </a:extLst>
              </a:tr>
              <a:tr h="7513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Empathize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Stakeholder mapping tools, survey forms (Google Forms), field observation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 needs of stakeholders such as tourists, local communities, historians, and conservation authorities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of stakeholder analysis, number of responses collected, identification of real problems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extLst>
                  <a:ext uri="{0D108BD9-81ED-4DB2-BD59-A6C34878D82A}">
                    <a16:rowId xmlns:a16="http://schemas.microsoft.com/office/drawing/2014/main" val="1526710867"/>
                  </a:ext>
                </a:extLst>
              </a:tr>
              <a:tr h="7513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 mapping tools, literature review databases, AI summarization tools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Clearly defined conservation problem and research objectives for selected fort (e.g., Raigad Fort or </a:t>
                      </a:r>
                      <a:r>
                        <a:rPr lang="en-IN" sz="14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Shivneri</a:t>
                      </a: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Fort)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Clarity of research question, logical problem statement, literature support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extLst>
                  <a:ext uri="{0D108BD9-81ED-4DB2-BD59-A6C34878D82A}">
                    <a16:rowId xmlns:a16="http://schemas.microsoft.com/office/drawing/2014/main" val="4270892758"/>
                  </a:ext>
                </a:extLst>
              </a:tr>
              <a:tr h="7513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Ideate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brainstorming tools, design thinking techniques, mind-mapping software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Generation of innovative AI-based solutions for monitoring, documentation, and preservation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Creativity of ideas, feasibility of solutions, number of alternatives explored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extLst>
                  <a:ext uri="{0D108BD9-81ED-4DB2-BD59-A6C34878D82A}">
                    <a16:rowId xmlns:a16="http://schemas.microsoft.com/office/drawing/2014/main" val="1304106775"/>
                  </a:ext>
                </a:extLst>
              </a:tr>
              <a:tr h="7513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GIS mapping tools (Google Earth), image analysis tools, AI visual tools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of prototype modules such as digital fort map, damage detection model, heritage awareness content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Functionality of prototype, accuracy of mapping/data analysis, clarity of design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extLst>
                  <a:ext uri="{0D108BD9-81ED-4DB2-BD59-A6C34878D82A}">
                    <a16:rowId xmlns:a16="http://schemas.microsoft.com/office/drawing/2014/main" val="4073530791"/>
                  </a:ext>
                </a:extLst>
              </a:tr>
              <a:tr h="7513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comparison tools, expert feedback, peer review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whether the AI tools and analysis correctly identify conservation needs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 of results, feedback from experts/teachers, alignment with project objectives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extLst>
                  <a:ext uri="{0D108BD9-81ED-4DB2-BD59-A6C34878D82A}">
                    <a16:rowId xmlns:a16="http://schemas.microsoft.com/office/drawing/2014/main" val="3285086502"/>
                  </a:ext>
                </a:extLst>
              </a:tr>
              <a:tr h="7513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 software, awareness materials, digital documentation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Demonstration of AI-based conservation strategy and practical recommendations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applicability, clarity of implementation plan, quality of presentation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extLst>
                  <a:ext uri="{0D108BD9-81ED-4DB2-BD59-A6C34878D82A}">
                    <a16:rowId xmlns:a16="http://schemas.microsoft.com/office/drawing/2014/main" val="727065460"/>
                  </a:ext>
                </a:extLst>
              </a:tr>
              <a:tr h="5065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writing tools, reference managers, plagiarism checker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capstone report and reflection on project findings and learning outcomes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structure, scientific accuracy, originality, quality of conclusions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74" marR="9374" marT="9374" marB="9374" anchor="ctr"/>
                </a:tc>
                <a:extLst>
                  <a:ext uri="{0D108BD9-81ED-4DB2-BD59-A6C34878D82A}">
                    <a16:rowId xmlns:a16="http://schemas.microsoft.com/office/drawing/2014/main" val="91206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6CE5B96-FD71-45B0-E822-B06928FD7901}"/>
              </a:ext>
            </a:extLst>
          </p:cNvPr>
          <p:cNvSpPr txBox="1"/>
          <p:nvPr/>
        </p:nvSpPr>
        <p:spPr>
          <a:xfrm>
            <a:off x="109105" y="0"/>
            <a:ext cx="6099462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Table 2: Tools, Outcomes and Evaluation Rubrics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89C36-82AD-92CF-0261-C65F35ACE1F7}"/>
              </a:ext>
            </a:extLst>
          </p:cNvPr>
          <p:cNvSpPr txBox="1"/>
          <p:nvPr/>
        </p:nvSpPr>
        <p:spPr>
          <a:xfrm>
            <a:off x="5865668" y="41101"/>
            <a:ext cx="6099462" cy="674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Capstone Project: AI-Assisted Study on Preservation and Conservation of Forts in Maharashtra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164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Indian Fort Images – Browse 49,962 Stock Photos, Vectors ...">
            <a:extLst>
              <a:ext uri="{FF2B5EF4-FFF2-40B4-BE49-F238E27FC236}">
                <a16:creationId xmlns:a16="http://schemas.microsoft.com/office/drawing/2014/main" id="{2B1E4C20-48A8-E6BA-39F2-014738D33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" r="12851" b="1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DB85BC-5AAE-D382-993D-8EFD24E6D440}"/>
              </a:ext>
            </a:extLst>
          </p:cNvPr>
          <p:cNvSpPr txBox="1"/>
          <p:nvPr/>
        </p:nvSpPr>
        <p:spPr>
          <a:xfrm>
            <a:off x="1425677" y="3236298"/>
            <a:ext cx="9144000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90925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9E8A-4935-B3EF-6DD8-B70AD02DB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483BF-18EE-9E7E-4B84-000253FA3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7FB34A-901C-CAC7-A04F-7A3BDA37A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-83127"/>
            <a:ext cx="10858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81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1238</Words>
  <Application>Microsoft Office PowerPoint</Application>
  <PresentationFormat>Widescreen</PresentationFormat>
  <Paragraphs>144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Goals of the Project</vt:lpstr>
      <vt:lpstr>PowerPoint Presentation</vt:lpstr>
      <vt:lpstr>Requirements and  Specifications </vt:lpstr>
      <vt:lpstr>AI Solution Model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vinod.narayane</dc:creator>
  <cp:lastModifiedBy>balasaheb.pathare</cp:lastModifiedBy>
  <cp:revision>10</cp:revision>
  <dcterms:created xsi:type="dcterms:W3CDTF">2026-03-10T07:11:42Z</dcterms:created>
  <dcterms:modified xsi:type="dcterms:W3CDTF">2026-03-10T10:52:41Z</dcterms:modified>
</cp:coreProperties>
</file>